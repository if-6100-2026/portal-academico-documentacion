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6953a3d6ed42cd" /><Relationship Type="http://schemas.openxmlformats.org/officeDocument/2006/relationships/extended-properties" Target="/docProps/app.xml" Id="Rc36a8ced11064571" /><Relationship Type="http://schemas.openxmlformats.org/officeDocument/2006/relationships/officeDocument" Target="/ppt/presentation.xml" Id="Rcdea37e255074b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21a94df8424ee1"/>
  </p:sldMasterIdLst>
  <p:notesMasterIdLst>
    <p:notesMasterId xmlns:r="http://schemas.openxmlformats.org/officeDocument/2006/relationships" r:id="R12a550d035814bfa"/>
  </p:notesMasterIdLst>
  <p:sldIdLst>
    <p:sldId xmlns:r="http://schemas.openxmlformats.org/officeDocument/2006/relationships" id="256" r:id="R47b0cd96ddcc4f7c"/>
    <p:sldId xmlns:r="http://schemas.openxmlformats.org/officeDocument/2006/relationships" id="257" r:id="Rd03e62f38a5f4f33"/>
    <p:sldId xmlns:r="http://schemas.openxmlformats.org/officeDocument/2006/relationships" id="258" r:id="R1c28fa9348af4a21"/>
    <p:sldId xmlns:r="http://schemas.openxmlformats.org/officeDocument/2006/relationships" id="259" r:id="R4aa9895ea7a04ccf"/>
    <p:sldId xmlns:r="http://schemas.openxmlformats.org/officeDocument/2006/relationships" id="260" r:id="Rc3c74ae50450423b"/>
    <p:sldId xmlns:r="http://schemas.openxmlformats.org/officeDocument/2006/relationships" id="261" r:id="R07b9cbb526d34f9e"/>
    <p:sldId xmlns:r="http://schemas.openxmlformats.org/officeDocument/2006/relationships" id="262" r:id="Rad1dde0c1e8646bd"/>
    <p:sldId xmlns:r="http://schemas.openxmlformats.org/officeDocument/2006/relationships" id="263" r:id="R82156bcac2724630"/>
    <p:sldId xmlns:r="http://schemas.openxmlformats.org/officeDocument/2006/relationships" id="264" r:id="Re11e87b4206a4e24"/>
    <p:sldId xmlns:r="http://schemas.openxmlformats.org/officeDocument/2006/relationships" id="265" r:id="R6e4f99dc894c4b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6b8f66d2e94e5f" /><Relationship Type="http://schemas.openxmlformats.org/officeDocument/2006/relationships/slideMaster" Target="/ppt/slideMasters/slideMaster1.xml" Id="Ra521a94df8424ee1" /><Relationship Type="http://schemas.openxmlformats.org/officeDocument/2006/relationships/notesMaster" Target="/ppt/notesMasters/notesMaster1.xml" Id="R12a550d035814bfa" /><Relationship Type="http://schemas.openxmlformats.org/officeDocument/2006/relationships/presProps" Target="/ppt/presProps.xml" Id="R7ffed45c1ce24f63" /><Relationship Type="http://schemas.openxmlformats.org/officeDocument/2006/relationships/tableStyles" Target="/ppt/tableStyles.xml" Id="R897347ae4ef04d72" /><Relationship Type="http://schemas.openxmlformats.org/officeDocument/2006/relationships/slide" Target="/ppt/slides/slide1.xml" Id="R47b0cd96ddcc4f7c" /><Relationship Type="http://schemas.openxmlformats.org/officeDocument/2006/relationships/slide" Target="/ppt/slides/slide2.xml" Id="Rd03e62f38a5f4f33" /><Relationship Type="http://schemas.openxmlformats.org/officeDocument/2006/relationships/slide" Target="/ppt/slides/slide3.xml" Id="R1c28fa9348af4a21" /><Relationship Type="http://schemas.openxmlformats.org/officeDocument/2006/relationships/slide" Target="/ppt/slides/slide4.xml" Id="R4aa9895ea7a04ccf" /><Relationship Type="http://schemas.openxmlformats.org/officeDocument/2006/relationships/slide" Target="/ppt/slides/slide5.xml" Id="Rc3c74ae50450423b" /><Relationship Type="http://schemas.openxmlformats.org/officeDocument/2006/relationships/slide" Target="/ppt/slides/slide6.xml" Id="R07b9cbb526d34f9e" /><Relationship Type="http://schemas.openxmlformats.org/officeDocument/2006/relationships/slide" Target="/ppt/slides/slide7.xml" Id="Rad1dde0c1e8646bd" /><Relationship Type="http://schemas.openxmlformats.org/officeDocument/2006/relationships/slide" Target="/ppt/slides/slide8.xml" Id="R82156bcac2724630" /><Relationship Type="http://schemas.openxmlformats.org/officeDocument/2006/relationships/slide" Target="/ppt/slides/slide9.xml" Id="Re11e87b4206a4e24" /><Relationship Type="http://schemas.openxmlformats.org/officeDocument/2006/relationships/slide" Target="/ppt/slides/slide10.xml" Id="R6e4f99dc894c4b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6deeb5690d47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a7c93fe9cb4943" /><Relationship Type="http://schemas.openxmlformats.org/officeDocument/2006/relationships/notesMaster" Target="/ppt/notesMasters/notesMaster1.xml" Id="Rc8c759fb1cb841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b56fd46d074b6f" /><Relationship Type="http://schemas.openxmlformats.org/officeDocument/2006/relationships/notesMaster" Target="/ppt/notesMasters/notesMaster1.xml" Id="R2fd89975b57443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7dfd66a4bb4f6d" /><Relationship Type="http://schemas.openxmlformats.org/officeDocument/2006/relationships/notesMaster" Target="/ppt/notesMasters/notesMaster1.xml" Id="Race07a00597b47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a48038b502499c" /><Relationship Type="http://schemas.openxmlformats.org/officeDocument/2006/relationships/notesMaster" Target="/ppt/notesMasters/notesMaster1.xml" Id="R5f3459d5eac840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9d65dffc224a1c" /><Relationship Type="http://schemas.openxmlformats.org/officeDocument/2006/relationships/notesMaster" Target="/ppt/notesMasters/notesMaster1.xml" Id="R8a64283658694c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d6aae99922459e" /><Relationship Type="http://schemas.openxmlformats.org/officeDocument/2006/relationships/notesMaster" Target="/ppt/notesMasters/notesMaster1.xml" Id="R1114e25882ef40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369d6ba73e4ab2" /><Relationship Type="http://schemas.openxmlformats.org/officeDocument/2006/relationships/notesMaster" Target="/ppt/notesMasters/notesMaster1.xml" Id="R00ba918034fd49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3598057fcc47ec" /><Relationship Type="http://schemas.openxmlformats.org/officeDocument/2006/relationships/notesMaster" Target="/ppt/notesMasters/notesMaster1.xml" Id="R76533a1914924f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961e243c2d47e4" /><Relationship Type="http://schemas.openxmlformats.org/officeDocument/2006/relationships/notesMaster" Target="/ppt/notesMasters/notesMaster1.xml" Id="Rcb54c2adf85d46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95e4cb24fc4c29" /><Relationship Type="http://schemas.openxmlformats.org/officeDocument/2006/relationships/notesMaster" Target="/ppt/notesMasters/notesMaster1.xml" Id="R24bac18b2f924a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aclarando que esta es una propuesta de PC1 para recibir retroalimentación. No se presenta una aplicación terminada, sino un análisis trazable del problema y su alcance.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trazabilidad:</a:t>
            </a:r>
          </a:p>
          <a:p xmlns:a="http://schemas.openxmlformats.org/drawingml/2006/main">
            <a:r>
              <a:t>00-README.md</a:t>
            </a:r>
          </a:p>
          <a:p xmlns:a="http://schemas.openxmlformats.org/drawingml/2006/main">
            <a:r>
              <a:t>01-problema-vision.md</a:t>
            </a:r>
          </a:p>
          <a:p xmlns:a="http://schemas.openxmlformats.org/drawingml/2006/main">
            <a:r>
              <a:t>https://mv.mediacionvirtual.ucr.ac.cr/mod/assign/view.php?id=1032931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Enfatizar que el problema no es 'no tener una plataforma'. El problema observado es la dependencia de un intermediario físico y la falta de evidencia verificable de recepción. No presentar las hipótesis como hechos.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trazabilidad:</a:t>
            </a:r>
          </a:p>
          <a:p xmlns:a="http://schemas.openxmlformats.org/drawingml/2006/main">
            <a:r>
              <a:t>01-problema-vision.md</a:t>
            </a:r>
          </a:p>
          <a:p xmlns:a="http://schemas.openxmlformats.org/drawingml/2006/main">
            <a:r>
              <a:t>02-proceso-actual-y-trazabilidad.md</a:t>
            </a:r>
          </a:p>
          <a:p xmlns:a="http://schemas.openxmlformats.org/drawingml/2006/main">
            <a:r>
              <a:t>09-supuestos-validaciones.md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la visión como una promesa de valor, sin detalles de interfaz ni tecnología. Recordar que PC1 valida análisis y trazabilidad; el desarrollo queda fuera de esta fase.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trazabilidad:</a:t>
            </a:r>
          </a:p>
          <a:p xmlns:a="http://schemas.openxmlformats.org/drawingml/2006/main">
            <a:r>
              <a:t>01-problema-vision.md</a:t>
            </a:r>
          </a:p>
          <a:p xmlns:a="http://schemas.openxmlformats.org/drawingml/2006/main">
            <a:r>
              <a:t>03-requerimientos-funcionales.md</a:t>
            </a:r>
          </a:p>
          <a:p xmlns:a="http://schemas.openxmlformats.org/drawingml/2006/main">
            <a:r>
              <a:t>https://mv.mediacionvirtual.ucr.ac.cr/mod/assign/view.php?id=1032931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diapositiva demuestra que la retroalimentación no quedó como una lista aparte: cada punto se tradujo en requisitos y escenarios verificables. Las métricas exactas de recordatorios y plazos siguen marcadas para validación.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trazabilidad:</a:t>
            </a:r>
          </a:p>
          <a:p xmlns:a="http://schemas.openxmlformats.org/drawingml/2006/main">
            <a:r>
              <a:t>03-requerimientos-funcionales.md</a:t>
            </a:r>
          </a:p>
          <a:p xmlns:a="http://schemas.openxmlformats.org/drawingml/2006/main">
            <a:r>
              <a:t>04-requerimientos-suplementarios.md</a:t>
            </a:r>
          </a:p>
          <a:p xmlns:a="http://schemas.openxmlformats.org/drawingml/2006/main">
            <a:r>
              <a:t>08-matriz-trazabilidad.md</a:t>
            </a:r>
          </a:p>
          <a:p xmlns:a="http://schemas.openxmlformats.org/drawingml/2006/main">
            <a:r>
              <a:t>Captura del foro: Re: Descripción del Problema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el proceso por participantes. Señalar que los elementos marcados [PV] son hipótesis explícitas, no hechos. Pedir al profesor confirmación sobre el nivel de detalle y, después, validarlos con Dirección.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trazabilidad:</a:t>
            </a:r>
          </a:p>
          <a:p xmlns:a="http://schemas.openxmlformats.org/drawingml/2006/main">
            <a:r>
              <a:t>02-proceso-actual-y-trazabilidad.md</a:t>
            </a:r>
          </a:p>
          <a:p xmlns:a="http://schemas.openxmlformats.org/drawingml/2006/main">
            <a:r>
              <a:t>diagramas/02-proceso-actual.bpmn</a:t>
            </a:r>
          </a:p>
          <a:p xmlns:a="http://schemas.openxmlformats.org/drawingml/2006/main">
            <a:r>
              <a:t>diagramas/02-proceso-actual.svg</a:t>
            </a:r>
          </a:p>
          <a:p xmlns:a="http://schemas.openxmlformats.org/drawingml/2006/main">
            <a:r>
              <a:t>Módulo 2: modelado BPMN y separación por pools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el estudiante participa en el proceso físico actual, pero no es actor autenticado del MVP. La relación encargado–estudiante controla qué información puede consultar cada persona.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trazabilidad:</a:t>
            </a:r>
          </a:p>
          <a:p xmlns:a="http://schemas.openxmlformats.org/drawingml/2006/main">
            <a:r>
              <a:t>05-actores.md</a:t>
            </a:r>
          </a:p>
          <a:p xmlns:a="http://schemas.openxmlformats.org/drawingml/2006/main">
            <a:r>
              <a:t>06-casos-de-uso-detallados.md</a:t>
            </a:r>
          </a:p>
          <a:p xmlns:a="http://schemas.openxmlformats.org/drawingml/2006/main">
            <a:r>
              <a:t>diagramas/05-casos-de-uso.puml</a:t>
            </a:r>
          </a:p>
          <a:p xmlns:a="http://schemas.openxmlformats.org/drawingml/2006/main">
            <a:r>
              <a:t>diagramas/05-casos-de-uso.svg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que la congruencia no depende de que el sistema adivine: el docente confirma explícitamente antes de publicar. El mecanismo de recordatorio es una política configurable pendiente de validación, no un plazo inventado.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trazabilidad:</a:t>
            </a:r>
          </a:p>
          <a:p xmlns:a="http://schemas.openxmlformats.org/drawingml/2006/main">
            <a:r>
              <a:t>03-requerimientos-funcionales.md: RF-08 a RF-22</a:t>
            </a:r>
          </a:p>
          <a:p xmlns:a="http://schemas.openxmlformats.org/drawingml/2006/main">
            <a:r>
              <a:t>04-requerimientos-suplementarios.md</a:t>
            </a:r>
          </a:p>
          <a:p xmlns:a="http://schemas.openxmlformats.org/drawingml/2006/main">
            <a:r>
              <a:t>06-casos-de-uso-detallados.md: UC-03 a UC-05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figura mediadora y las reglas de escalamiento deben confirmarse con Dirección. La IA se conserva como posibilidad de evolución, fuera del MVP y con revisión humana obligatoria.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trazabilidad:</a:t>
            </a:r>
          </a:p>
          <a:p xmlns:a="http://schemas.openxmlformats.org/drawingml/2006/main">
            <a:r>
              <a:t>03-requerimientos-funcionales.md: RF-23 a RF-29 y RF-F01</a:t>
            </a:r>
          </a:p>
          <a:p xmlns:a="http://schemas.openxmlformats.org/drawingml/2006/main">
            <a:r>
              <a:t>06-casos-de-uso-detallados.md: UC-06 y UC-07</a:t>
            </a:r>
          </a:p>
          <a:p xmlns:a="http://schemas.openxmlformats.org/drawingml/2006/main">
            <a:r>
              <a:t>09-supuestos-validaciones.md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esta cadena como ejemplo de lectura de la matriz. El objetivo no es enseñar todas las filas en pantalla, sino demostrar que el rastro puede auditarse de punta a punta.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trazabilidad:</a:t>
            </a:r>
          </a:p>
          <a:p xmlns:a="http://schemas.openxmlformats.org/drawingml/2006/main">
            <a:r>
              <a:t>02-proceso-actual-y-trazabilidad.md</a:t>
            </a:r>
          </a:p>
          <a:p xmlns:a="http://schemas.openxmlformats.org/drawingml/2006/main">
            <a:r>
              <a:t>03-requerimientos-funcionales.md</a:t>
            </a:r>
          </a:p>
          <a:p xmlns:a="http://schemas.openxmlformats.org/drawingml/2006/main">
            <a:r>
              <a:t>06-casos-de-uso-detallados.md</a:t>
            </a:r>
          </a:p>
          <a:p xmlns:a="http://schemas.openxmlformats.org/drawingml/2006/main">
            <a:r>
              <a:t>07-guion-pruebas.md</a:t>
            </a:r>
          </a:p>
          <a:p xmlns:a="http://schemas.openxmlformats.org/drawingml/2006/main">
            <a:r>
              <a:t>08-matriz-trazabilidad.md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pidiendo validación concreta. Si el profesor confirma estas decisiones, el equipo puede ajustar el paquete final sin rehacer la estructura. No afirmar que Moodle ya recibió la entrega.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trazabilidad:</a:t>
            </a:r>
          </a:p>
          <a:p xmlns:a="http://schemas.openxmlformats.org/drawingml/2006/main">
            <a:r>
              <a:t>09-supuestos-validaciones.md</a:t>
            </a:r>
          </a:p>
          <a:p xmlns:a="http://schemas.openxmlformats.org/drawingml/2006/main">
            <a:r>
              <a:t>11-checklist-rubrica.md</a:t>
            </a:r>
          </a:p>
          <a:p xmlns:a="http://schemas.openxmlformats.org/drawingml/2006/main">
            <a:r>
              <a:t>00-README.md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fc0aef0c8541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194e262f2347db" /><Relationship Type="http://schemas.openxmlformats.org/officeDocument/2006/relationships/slideLayout" Target="/ppt/slideLayouts/slideLayout1.xml" Id="R1b9da5b9e4da48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9da5b9e4da48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80ae5c1a54718" /><Relationship Type="http://schemas.openxmlformats.org/officeDocument/2006/relationships/notesSlide" Target="/ppt/notesSlides/notesSlide1.xml" Id="R2312c9a894f04f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7c2e387c741b7" /><Relationship Type="http://schemas.openxmlformats.org/officeDocument/2006/relationships/notesSlide" Target="/ppt/notesSlides/notesSlide2.xml" Id="R3ec5f502a9f34f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0d43f2804428a" /><Relationship Type="http://schemas.openxmlformats.org/officeDocument/2006/relationships/notesSlide" Target="/ppt/notesSlides/notesSlide3.xml" Id="Rd6fb163a834b4b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ccce000dd4236" /><Relationship Type="http://schemas.openxmlformats.org/officeDocument/2006/relationships/notesSlide" Target="/ppt/notesSlides/notesSlide4.xml" Id="R821d60899ca644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404b731664a3f" /><Relationship Type="http://schemas.openxmlformats.org/officeDocument/2006/relationships/image" Target="/ppt/media/image.png" Id="Rf7dfe35509fb47cc" /><Relationship Type="http://schemas.openxmlformats.org/officeDocument/2006/relationships/notesSlide" Target="/ppt/notesSlides/notesSlide5.xml" Id="R487ad666035b42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a8e1a929e46f8" /><Relationship Type="http://schemas.openxmlformats.org/officeDocument/2006/relationships/image" Target="/ppt/media/image2.png" Id="Rb125dfc5fb0643cd" /><Relationship Type="http://schemas.openxmlformats.org/officeDocument/2006/relationships/notesSlide" Target="/ppt/notesSlides/notesSlide6.xml" Id="R9cda03767ed040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4cedc80164ffb" /><Relationship Type="http://schemas.openxmlformats.org/officeDocument/2006/relationships/notesSlide" Target="/ppt/notesSlides/notesSlide7.xml" Id="R1102707ae44a44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ef2105f8e4b3b" /><Relationship Type="http://schemas.openxmlformats.org/officeDocument/2006/relationships/notesSlide" Target="/ppt/notesSlides/notesSlide8.xml" Id="R3d7ba237a4474c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4203166e04a18" /><Relationship Type="http://schemas.openxmlformats.org/officeDocument/2006/relationships/notesSlide" Target="/ppt/notesSlides/notesSlide9.xml" Id="Rbd17a781b24544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a47b8f9a04d00" /><Relationship Type="http://schemas.openxmlformats.org/officeDocument/2006/relationships/notesSlide" Target="/ppt/notesSlides/notesSlide10.xml" Id="Rdc1f90efba544e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007A7C-C489-4D27-96DC-827C96AF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C23C1-9057-40CA-920D-56397CD9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2895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rmAutofit fontScale="8983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B7F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B7F79"/>
                </a:solidFill>
                <a:latin typeface="Arial"/>
                <a:ea typeface="Arial"/>
                <a:cs typeface="Arial"/>
              </a:rPr>
              <a:t>PRESENTACIÓN PARA RETROALIMENTACIÓN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3EA19-73CE-48DC-B9B7-F493B581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Portal Académico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B0C7E-5FA1-41D4-B966-E9943ED4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781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Seguimiento académico oportuno, directo y trazable entre la escuela y el hogar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EDC19C-E2DE-4099-ADA8-EB37B09C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62050"/>
            <a:ext cx="2343150" cy="23431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0B35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3A3F5-29BE-43B6-A955-EB8B8808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457325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85D1A-5A4F-4B82-B8E6-3C4DE2EC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352675"/>
            <a:ext cx="15240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A1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83FC62-4C2E-4D58-8783-3F0530EE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90800"/>
            <a:ext cx="1771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731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Análisis del problema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 alcance inicial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64246-4F35-4C6D-A895-494DB875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5DA0"/>
                </a:solidFill>
                <a:latin typeface="Arial"/>
                <a:ea typeface="Arial"/>
                <a:cs typeface="Arial"/>
              </a:rPr>
              <a:t>Centro Educativo María Montessori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DA064-75C6-4DD3-958D-E9D8230E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B7A"/>
                </a:solidFill>
                <a:latin typeface="Arial"/>
                <a:ea typeface="Arial"/>
                <a:cs typeface="Arial"/>
              </a:rPr>
              <a:t>Josué Delgado Corrales · Sebastian Cordero Quesada · Alejandro Porras Orozco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DCDE3-F323-40E4-ACDE-84CA365A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B7A"/>
                </a:solidFill>
                <a:latin typeface="Arial"/>
                <a:ea typeface="Arial"/>
                <a:cs typeface="Arial"/>
              </a:rPr>
              <a:t>16 de septiembre de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5C64E1-959A-4A0F-9B85-50E3870B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591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2F262F-40F3-44A9-A0D1-1FFFD025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977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7F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7F79"/>
                </a:solidFill>
                <a:latin typeface="Arial"/>
                <a:ea typeface="Arial"/>
                <a:cs typeface="Arial"/>
              </a:rPr>
              <a:t>Objetivo de la sesión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BC15FF-B892-4E72-9BBE-54D38293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791200"/>
            <a:ext cx="832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Validar el proceso actual, el alcance y las decisiones pendientes antes de cerrar la entrega.</a:t>
            </a:r>
          </a:p>
        </p:txBody>
      </p:sp>
    </p:spTree>
    <p:extLst>
      <p:ext uri="{BB962C8B-B14F-4D97-AF65-F5344CB8AC3E}">
        <p14:creationId xmlns:p14="http://schemas.microsoft.com/office/powerpoint/2010/main" val="18114247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ABCFCD-97C9-41BE-A620-78279BEE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7F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B7F79"/>
                </a:solidFill>
                <a:latin typeface="Arial"/>
                <a:ea typeface="Arial"/>
                <a:cs typeface="Arial"/>
              </a:rPr>
              <a:t>PUNTO DE PARTIDA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30E15-38F4-401B-8796-1FDAF517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El quiebre no es la nota: es cómo llega al hogar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12E1D-2BB3-4C7A-A690-717480C7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95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6B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9F1E1-051C-45BD-AFAD-33ADD6B9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CE410-FBE5-4A32-B56E-4D28DE07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00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2A7BB-3393-45EE-8280-79670829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977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Docente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911A1-AF67-44BF-89BC-DBC496E8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Registra y entrega</a:t>
            </a:r>
          </a:p>
          <a:p xmlns:a="http://schemas.openxmlformats.org/drawingml/2006/main">
            <a:pPr algn="ctr">
              <a:defRPr sz="12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la evaluación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714E8-8BC5-43E5-A880-70D1B5F3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09825"/>
            <a:ext cx="4095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753A96-178B-4317-85E1-97C16257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09750"/>
            <a:ext cx="200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94A221-ABCD-4E39-AFD2-C65FDB6D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0977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Documento impreso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D7F11-47EB-42D5-89C9-1D6ABDFC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09825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Hoja o evaluación</a:t>
            </a:r>
          </a:p>
          <a:p xmlns:a="http://schemas.openxmlformats.org/drawingml/2006/main">
            <a:pPr algn="ctr">
              <a:defRPr sz="12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que debe viajar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9A2D62-8D00-4B4F-B130-2ADAF17B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09825"/>
            <a:ext cx="4095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454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A4AB8-0311-4785-96C9-D4D56ABB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09750"/>
            <a:ext cx="200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8E7E6"/>
          </a:solidFill>
          <a:ln xmlns:a="http://schemas.openxmlformats.org/drawingml/2006/main" w="9525">
            <a:solidFill>
              <a:srgbClr val="B945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7CD917-D6CD-4C3E-B670-2DBD4AE3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0977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9454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4545"/>
                </a:solidFill>
                <a:latin typeface="Arial"/>
                <a:ea typeface="Arial"/>
                <a:cs typeface="Arial"/>
              </a:rPr>
              <a:t>Estudiante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5F8D22-C8CC-4154-8EFA-64089D65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09825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Actúa como</a:t>
            </a:r>
          </a:p>
          <a:p xmlns:a="http://schemas.openxmlformats.org/drawingml/2006/main">
            <a:pPr algn="ctr">
              <a:defRPr sz="12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intermediario físico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228DDB-66D5-481C-9D1F-24D39B1C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09825"/>
            <a:ext cx="4095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562E66-1990-4B2F-8725-F099BF39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200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8DEA40-E3B5-4BAF-8A6B-34DF430E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977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Encargado legal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0FAECC-7295-4E35-96A6-E8D21BFF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09825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Se entera cuando</a:t>
            </a:r>
          </a:p>
          <a:p xmlns:a="http://schemas.openxmlformats.org/drawingml/2006/main">
            <a:pPr algn="ctr">
              <a:defRPr sz="12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recibe el documento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9E3AFB-13A2-4701-9E29-BF519D46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1762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rmAutofit fontScale="9142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B7F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B7F79"/>
                </a:solidFill>
                <a:latin typeface="Arial"/>
                <a:ea typeface="Arial"/>
                <a:cs typeface="Arial"/>
              </a:rPr>
              <a:t>EVIDENCIA CONFIRMADA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20F21C-2D0F-4931-82A6-9FFB6589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50673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609C38-B981-4F0E-9DFA-9064147A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9575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Lo que sabemos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31983A-561B-42CB-BA2A-66A3E4BD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81525"/>
            <a:ext cx="4724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Se usan documentos impresos. El estudiante los transporta. Algunos se retrasan o no llegan. La situación genera reclamos de encargados.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168ECF-9C1E-450D-AFCB-9005E899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48075"/>
            <a:ext cx="2209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rmAutofit fontScale="8815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POR VALIDAR CON LA DIRECCIÓN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24D7A4-4BDE-4761-A622-7F326BF7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48125"/>
            <a:ext cx="50673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368971-3258-4368-8217-A1D3DCAD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19575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Lo que no debemos inventar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AFCC12-4581-4BBA-93B2-46EDAAE8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81525"/>
            <a:ext cx="4724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Plazos actuales, volumen de reclamos, canales alternos, responsable de mediación y carga administrativa real.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C97AF1-887C-415C-9DA3-EEB0264F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B7A"/>
                </a:solidFill>
                <a:latin typeface="Arial"/>
                <a:ea typeface="Arial"/>
                <a:cs typeface="Arial"/>
              </a:rPr>
              <a:t>PC1 · Evidencia separada de supuestos</a:t>
            </a:r>
          </a:p>
        </p:txBody>
      </p:sp>
    </p:spTree>
    <p:extLst>
      <p:ext uri="{BB962C8B-B14F-4D97-AF65-F5344CB8AC3E}">
        <p14:creationId xmlns:p14="http://schemas.microsoft.com/office/powerpoint/2010/main" val="16260033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E4461F-A9AC-425F-93EB-267D98ED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7F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B7F79"/>
                </a:solidFill>
                <a:latin typeface="Arial"/>
                <a:ea typeface="Arial"/>
                <a:cs typeface="Arial"/>
              </a:rPr>
              <a:t>DEFINICIÓN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54F90-20D7-40A2-BD43-4190A589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Problema, visión y frontera de la primera entrega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D9714-CF4B-4C9E-BEB3-A0C97B99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95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6B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96E3C-B17F-42D1-95B9-9DAEB82E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8B171-3CB5-4C8B-9A0C-8D04D925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429000" cy="4095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8034A-6556-4298-A15C-72FEE7BA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666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7E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945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94545"/>
                </a:solidFill>
                <a:latin typeface="Arial"/>
                <a:ea typeface="Arial"/>
                <a:cs typeface="Arial"/>
              </a:rPr>
              <a:t>HOY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53D554-8571-4B4C-A091-5ECB4CB4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Problema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A841E-E505-40A7-B8C1-7E937225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0861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El centro educativo no dispone de un medio institucional directo, oportuno y verificable para comunicar el progreso académico. La información depende de documentos físicos y no deja trazabilidad suficiente para acompañar a tiempo.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2F0C5-AB1F-431B-B156-3971F491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24000"/>
            <a:ext cx="3429000" cy="4095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FCD45-87DB-4E1D-84C6-09383FE6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76400"/>
            <a:ext cx="742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B7F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B7F79"/>
                </a:solidFill>
                <a:latin typeface="Arial"/>
                <a:ea typeface="Arial"/>
                <a:cs typeface="Arial"/>
              </a:rPr>
              <a:t>META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A342D-280E-4658-8E52-B0C184E2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47875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Visión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D54A8-654B-441C-A4DC-07B54382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81250"/>
            <a:ext cx="30861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Para encargados legales y personal docente de primaria que requieren seguimiento oportuno, Portal Académico centraliza la comunicación del progreso y deja evidencia verificable de publicación, recepción y atención.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9A1666-2BA5-475F-A529-D9E6972E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24000"/>
            <a:ext cx="3429000" cy="4095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BA0BE-D120-43C7-BC4F-5F54A531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76400"/>
            <a:ext cx="666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MVP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F7AA52-CA00-4DC5-B340-853CAC5D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47875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Alcance PC1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5A04DA-05E9-40B0-8C2F-3E865030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81250"/>
            <a:ext cx="30861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Incluye el análisis del proceso actual, actores, 35 requisitos funcionales, 11 casos de uso, requisitos medibles, pruebas y trazabilidad. No incluye matrícula, clases en línea, evaluación digital ni integración con el MEP.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FDAE81-A783-418B-8453-31AEC944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355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B369AA-B62B-4B90-9CA5-412E430B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3125"/>
            <a:ext cx="1059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7407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Decisión de alcance: iniciar en educación primaria; secundaria queda como expansión futura.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97ACCA-FE28-4EF9-9CC6-9ADA2962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B7A"/>
                </a:solidFill>
                <a:latin typeface="Arial"/>
                <a:ea typeface="Arial"/>
                <a:cs typeface="Arial"/>
              </a:rPr>
              <a:t>PC1 · Análisis y Diseño de Sistemas</a:t>
            </a:r>
          </a:p>
        </p:txBody>
      </p:sp>
    </p:spTree>
    <p:extLst>
      <p:ext uri="{BB962C8B-B14F-4D97-AF65-F5344CB8AC3E}">
        <p14:creationId xmlns:p14="http://schemas.microsoft.com/office/powerpoint/2010/main" val="15489192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675CAB-196E-471A-AA46-47868320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7F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B7F79"/>
                </a:solidFill>
                <a:latin typeface="Arial"/>
                <a:ea typeface="Arial"/>
                <a:cs typeface="Arial"/>
              </a:rPr>
              <a:t>RETROALIMENTACIÓN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6D2A7-A379-40C8-B429-BAF90748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Ocho observaciones convertidas en decisiones verificables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909A5-F64D-40FA-9282-08F3EDB2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95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6B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344FB-0CE0-4D7E-9B13-0370A387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E7937-2A3C-410D-86C7-603B0B1B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54102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443AA-A626-4246-9D83-6D4D3FD8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049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6C2A9-6F9C-40AD-AC5A-C4DBFA3B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197FE-E0E5-45B7-8F32-A1860B09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6383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8947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Acceso inmediato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CD9E6-4B29-44A5-9DDF-E84CEFC6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526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Consulta autónoma por vínculo activo.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955829-7308-45FB-9014-A0BA1CFE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95425"/>
            <a:ext cx="54102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B3FF27-DBEB-49C1-9F25-86DDB9DF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049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325560-34CC-426F-8523-29CCF6C8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430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FA0B57-4535-4862-BD47-33AD0604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383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8947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Perfil y relación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AD1E7E-CB11-4A1F-A62A-DA25AD1D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526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Perfil del estudiante + asociación del encargado.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D46500-6BB6-40C9-8022-2C5F80BB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4102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D14C6C-7E4A-403A-92C8-75373E38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DC0088-23F0-426C-8449-6CF67BFD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256690-69AC-44A1-BEBC-6719EEEB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9082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8947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Comunicación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81BEC8-1E8F-425D-8912-A2E38C40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051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Hilo institucional ligado al estudiante.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5F0403-32B1-4C4C-8BD2-0FBA1DF8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47950"/>
            <a:ext cx="54102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58471F-D680-4C98-8389-669CEABF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2AAC75-652C-44A3-9119-0C89B4C9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956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035C99-63A4-4F47-B07E-619CFA41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9082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8947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Escuela/colegio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C4A1D7-E97B-4FEF-A7A1-6933640A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051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MVP primaria; secundaria fuera del alcance.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3C75BE-8D8B-4194-999D-E7376113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54102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98CCE2-E5B8-4C9D-9026-20D69B0C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00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24C584-1C72-4792-851D-089493E2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81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BF551C-DAD5-4C54-9E04-13674E1B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433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8947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Carga administrativa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D6AB5C-64B4-468A-8465-13670B16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576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Registro por grupo y alertas sin seguimiento manual.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3F2AD8-F327-4966-A121-DF5AEC00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00475"/>
            <a:ext cx="54102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352D27-50AD-49AA-BCFC-BF393BD4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100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DFAD8D-E3AC-4FB3-AB28-DCC09B7F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481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427C06-00CA-40C2-A4FA-67F804AC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433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8947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Aviso y acuse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5E6CEC-8D45-44D4-982C-FFCE3B62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576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Estados, recordatorios y alerta por no lectura.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1B9281-2D39-4751-B1F2-34F5CB75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4102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7CCA97-D725-42B8-8213-1989937E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A11B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D062D8-F107-493F-95A9-3FA546E3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DD168B-53C7-4DFE-A4C1-BB5052E1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9587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8947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Dos momentos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867F68-9FAA-4C59-9125-CA680594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102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Aviso al asignar y al devolver calificada.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0A8364-CE2D-4AB1-9285-C246CD6A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53000"/>
            <a:ext cx="54102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AC967B-22D7-4823-A238-2D586223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625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A11B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4789C0-96FA-4642-B197-940A92B1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006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20F8C7-96FE-44EC-921A-193B6D0F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09587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8947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Congruencia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B09C13-2A59-471D-84C0-5E6B2EC6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4102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Confirmación antes de cada publicación.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A872A9D-CA52-4510-9ED8-2A991372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B7A"/>
                </a:solidFill>
                <a:latin typeface="Arial"/>
                <a:ea typeface="Arial"/>
                <a:cs typeface="Arial"/>
              </a:rPr>
              <a:t>PC1 · Cada observación aparece en requisitos, casos de uso y pruebas</a:t>
            </a:r>
          </a:p>
        </p:txBody>
      </p:sp>
    </p:spTree>
    <p:extLst>
      <p:ext uri="{BB962C8B-B14F-4D97-AF65-F5344CB8AC3E}">
        <p14:creationId xmlns:p14="http://schemas.microsoft.com/office/powerpoint/2010/main" val="2899165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B572AF-F2B2-483E-A5AA-BD39957B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7F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B7F79"/>
                </a:solidFill>
                <a:latin typeface="Arial"/>
                <a:ea typeface="Arial"/>
                <a:cs typeface="Arial"/>
              </a:rPr>
              <a:t>PROCESO ACTUAL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CA0F2-EFF8-4654-A260-4E167EBE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BPMN AS-IS: el documento viaja de la escuela al hogar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54C2B-3D86-401C-8276-795303BD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95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6B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3A935-BC9E-4FEA-B3BB-6315423C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B7451-6CE3-42AF-8428-2FDC7EB1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2209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rmAutofit fontScale="8650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AS-IS · SIN DISEÑAR LA SOLUCIÓN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fe35509fb47cc"/>
          <a:stretch xmlns:a="http://schemas.openxmlformats.org/drawingml/2006/main"/>
        </p:blipFill>
        <p:spPr>
          <a:xfrm xmlns:a="http://schemas.openxmlformats.org/drawingml/2006/main">
            <a:off x="2802802" y="1714500"/>
            <a:ext cx="6586396" cy="3695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DA135-42B5-4E34-88C7-6066BDF7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34099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755AC-09EE-4C85-9961-AD090B7C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7F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7F79"/>
                </a:solidFill>
                <a:latin typeface="Arial"/>
                <a:ea typeface="Arial"/>
                <a:cs typeface="Arial"/>
              </a:rPr>
              <a:t>Confirmado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431768-3209-4CCD-A77E-6DDAEB65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304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impreso · intermediario · reclamos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A86E7-DD5B-4D79-BBD2-2E699FD3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572125"/>
            <a:ext cx="72771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DD275A-6BDF-4618-9168-ADAC91EC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6737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[PV] Por validar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E1D9C7-8698-4038-AE4A-275F795D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8769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plazos · canal de reclamo · responsable de cierre · evidencia de recepción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55FDAF-AF93-4011-BF2C-A407EAEA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B7A"/>
                </a:solidFill>
                <a:latin typeface="Arial"/>
                <a:ea typeface="Arial"/>
                <a:cs typeface="Arial"/>
              </a:rPr>
              <a:t>PC1 · Análisis y Diseño de Sistemas</a:t>
            </a:r>
          </a:p>
        </p:txBody>
      </p:sp>
    </p:spTree>
    <p:extLst>
      <p:ext uri="{BB962C8B-B14F-4D97-AF65-F5344CB8AC3E}">
        <p14:creationId xmlns:p14="http://schemas.microsoft.com/office/powerpoint/2010/main" val="14971451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F4D3D0-1942-4CE0-976C-34C987C8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7F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B7F79"/>
                </a:solidFill>
                <a:latin typeface="Arial"/>
                <a:ea typeface="Arial"/>
                <a:cs typeface="Arial"/>
              </a:rPr>
              <a:t>COMPORTAMIENTO ESPERADO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E9CBB-0537-46CC-845B-0E27AC84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Siete actores y once casos delimitan responsabilidades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10B24-4CAE-4E99-87CB-37E477ED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95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6B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B519B-D30E-437C-8E7A-CE439E54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FCED1-5057-4DF1-855B-7BE6758F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8382000" cy="46863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5dfc5fb0643cd"/>
          <a:stretch xmlns:a="http://schemas.openxmlformats.org/drawingml/2006/main"/>
        </p:blipFill>
        <p:spPr>
          <a:xfrm xmlns:a="http://schemas.openxmlformats.org/drawingml/2006/main">
            <a:off x="1196068" y="1619250"/>
            <a:ext cx="6980464" cy="4343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17EB3-3110-47A2-A0C9-B95035C6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562100"/>
            <a:ext cx="2400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CA5E1-ABD3-4C76-A73F-6708D5E8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7145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5DA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9E2AF-D2FB-4970-95A7-248E138E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838325"/>
            <a:ext cx="1266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actores perfilados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8F299-3C9D-437B-AF76-1F19680D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67025"/>
            <a:ext cx="2400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3558"/>
          </a:solidFill>
          <a:ln xmlns:a="http://schemas.openxmlformats.org/drawingml/2006/main" w="9525">
            <a:solidFill>
              <a:srgbClr val="0B35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31EC1-0295-4C97-AB32-01E99D2D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1942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E4A11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4A11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0190E3-CE2B-4C49-A600-E2E85A35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143250"/>
            <a:ext cx="1266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casos de uso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60196-8D7E-4EF6-AB2F-356A2885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71950"/>
            <a:ext cx="2400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83B875-2AED-41CC-A8F6-97757B03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3243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5DA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3AC0AC-2FCB-4A1B-B630-61D7A749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448175"/>
            <a:ext cx="1266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RF atómicos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1F4B0-FBD7-4CB9-922A-AE61F34C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476875"/>
            <a:ext cx="2400300" cy="676275"/>
          </a:xfrm>
          <a:prstGeom xmlns:a="http://schemas.openxmlformats.org/drawingml/2006/main" prst="roundRect">
            <a:avLst>
              <a:gd name="adj" fmla="val 16901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744F53-4FF3-4E59-A2A2-9F8BC946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610225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B7F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7F79"/>
                </a:solidFill>
                <a:latin typeface="Arial"/>
                <a:ea typeface="Arial"/>
                <a:cs typeface="Arial"/>
              </a:rPr>
              <a:t>El estudiante no tiene cuenta en el MVP.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932050-3088-4355-BAD0-795D0B4D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B7A"/>
                </a:solidFill>
                <a:latin typeface="Arial"/>
                <a:ea typeface="Arial"/>
                <a:cs typeface="Arial"/>
              </a:rPr>
              <a:t>PC1 · Análisis y Diseño de Sistemas</a:t>
            </a:r>
          </a:p>
        </p:txBody>
      </p:sp>
    </p:spTree>
    <p:extLst>
      <p:ext uri="{BB962C8B-B14F-4D97-AF65-F5344CB8AC3E}">
        <p14:creationId xmlns:p14="http://schemas.microsoft.com/office/powerpoint/2010/main" val="9503152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B7F11DB-6EA1-4762-93CB-7C07BC1E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7F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B7F79"/>
                </a:solidFill>
                <a:latin typeface="Arial"/>
                <a:ea typeface="Arial"/>
                <a:cs typeface="Arial"/>
              </a:rPr>
              <a:t>OBSERVACIONES 6, 7 Y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EE401-105D-4522-84DF-F29FC9A6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Dos hitos académicos sostienen una cadena verificable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1ADB3-024D-4454-8DF5-462902DC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95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6B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E70A5-9CB7-4D23-B1EE-3BFDD9B2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0F4A7-7F0F-42C4-876F-435A58FF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430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533B4-FFC4-44C7-8FCB-B4E52E33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28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9A354-C561-4926-88E3-7DF5CC16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190500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D9E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B82D7-3304-4FFF-88B1-367A8720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57450"/>
            <a:ext cx="1447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10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Asignar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5DCB6-5269-42EF-BD21-13FFBE7F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Docente registra la evaluación para el grupo.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B5068F-902F-4EE0-827E-3D680A5D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430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E7B5C-8CF0-43EA-AD07-E1BB70FD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28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57343E-40BB-43FC-8A23-F8CFCE8D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0500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D9E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38D74-459C-4BB2-86EC-C6E0D292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457450"/>
            <a:ext cx="1447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10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Confirmar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579809-ED98-47D6-8FD2-C07444C2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781300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Verifica congruencia con lo entregado en clase.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A874A6-188E-403B-8DEF-F2ACFBB7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A4B0C-1508-4BDF-AC5E-2DA01B62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28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CE7245-07A0-4EBA-91AC-3C048F73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90500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D9E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90ACC7-77F7-4641-84F7-A98E5090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57450"/>
            <a:ext cx="1447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10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Publicar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170AA3-C592-4191-8D24-4FF564F0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81300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Se informa al encargado sobre la asignación.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DDB65D-F6FE-4D0D-93F7-B0D1EE74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430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E38FF-C117-4136-8F1C-A67C1FB1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28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CC350F-E942-4C8F-B234-502B36C2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90500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D9E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99C269-71B9-4506-87CE-0670DC9C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57450"/>
            <a:ext cx="1447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10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Calificar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C5ABDD-053C-4DC2-9EA2-E7F93E9A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81300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Registra resultados del grupo.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98E7FE-2C38-4D33-8B40-3D0AF9B8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430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66674D-020D-476B-8A61-4D6BFFF3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28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115472-C25D-4211-B33C-7984EB1F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90500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D9E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35E8A2-C78D-4BD9-9A5E-A2778340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57450"/>
            <a:ext cx="1447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10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Confirmar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0E6E06-8EE1-4048-8907-9937CB12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81300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Verifica que la devolución física coincide.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DA855A-44AD-4768-BAA1-C70B0522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7430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DC03A3-7DD9-40FA-ACD3-146F9F62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828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70651D-C1E3-45AB-8D28-4DA940DF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57450"/>
            <a:ext cx="1447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10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Publicar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25B0FC-390B-44FA-8AA5-5E8E0CAC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81300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Se informa el resultado calificado.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BF1CFB-CD6F-4B54-B5B3-DCC05E17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2743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rmAutofit fontScale="9808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5DA0"/>
                </a:solidFill>
                <a:latin typeface="Arial"/>
                <a:ea typeface="Arial"/>
                <a:cs typeface="Arial"/>
              </a:rPr>
              <a:t>HITO 1 · ENTREGA PARA REALIZACIÓN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2CA552-B21E-4A22-89E6-027B9070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05225"/>
            <a:ext cx="2876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B7F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B7F79"/>
                </a:solidFill>
                <a:latin typeface="Arial"/>
                <a:ea typeface="Arial"/>
                <a:cs typeface="Arial"/>
              </a:rPr>
              <a:t>HITO 2 · DEVOLUCIÓN CALIFICADA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D12EF2-129C-4631-9F61-5FEFDD13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Estado de la notificación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386C59-BE0C-4B07-B96E-C9F62C03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657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Publicada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C18337-F0D3-4151-9CF1-FE2E4FDF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910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D9E4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6515D6-6ACA-4EBD-97F1-B93E4446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62500"/>
            <a:ext cx="1657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Enviada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B9176B-398B-4E94-B429-603F4405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7910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D9E4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874BD0-5D30-4222-8FD0-20F865E6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762500"/>
            <a:ext cx="1657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84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Vista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5D3B18-2518-4417-816F-15FD3A8D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910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D9E4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074A75-2D78-404E-84FC-F826021C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762500"/>
            <a:ext cx="1657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A11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Recordada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5A9222-584B-4A38-A6CE-0DC223CC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7910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D9E4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B4F0CB-3A65-4DFB-86CE-79180B7E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62500"/>
            <a:ext cx="1657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45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Escalada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37C2A1-3ED5-4D62-8B05-AB6D36C0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629900" cy="695325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215813-5539-4BF7-BD94-803976E9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43550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Política propuesta por validar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3D03D9-5A45-4D8B-AF8A-6964C434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514975"/>
            <a:ext cx="784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Si no se registra lectura dentro del plazo configurado, se emite un recordatorio y luego una alerta institucional; el plazo exacto no se presenta como hecho.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6792981-AB03-4861-9AB0-D06E559F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B7A"/>
                </a:solidFill>
                <a:latin typeface="Arial"/>
                <a:ea typeface="Arial"/>
                <a:cs typeface="Arial"/>
              </a:rPr>
              <a:t>PC1 · Análisis y Diseño de Sistemas</a:t>
            </a:r>
          </a:p>
        </p:txBody>
      </p:sp>
    </p:spTree>
    <p:extLst>
      <p:ext uri="{BB962C8B-B14F-4D97-AF65-F5344CB8AC3E}">
        <p14:creationId xmlns:p14="http://schemas.microsoft.com/office/powerpoint/2010/main" val="17390866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4897BA-84C9-4E04-8994-3461E5F0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7F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B7F79"/>
                </a:solidFill>
                <a:latin typeface="Arial"/>
                <a:ea typeface="Arial"/>
                <a:cs typeface="Arial"/>
              </a:rPr>
              <a:t>COMUNICACIÓN Y DISCREPANCIAS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5F55F-A7CA-4694-8F23-BDBDAE12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El reclamo deja de ser verbal: tiene responsable y cierre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D1F2E-BEE3-4C26-BBDE-19D19E72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95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6B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53F48-D5C7-4BD0-BE69-86F95C32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E6A05-E57D-4051-B783-7D48BEDB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7716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08874-99F3-4069-9C80-7D6AA725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3C0F99-467B-486F-B605-E5CD3991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Abrir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9AEAA0-0105-44F0-9022-1E1DFD0D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8425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Encargado registra motivo y evidencia.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DE8BDC-3940-4D9C-BD36-B12D83C4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52675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B4620-7217-44BE-96DB-B01F7BB4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04975"/>
            <a:ext cx="17716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0C674-1CA9-4577-B390-ACA8F043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57375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A4233B-E2A6-4F76-9609-50BA42C4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76475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Asignar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ADA31D-79AF-4A34-9030-13C6D4ED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38425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491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Se define responsable institucional.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9D5D58-328B-4C7A-9976-4F8D94DD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52675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C64F6C-CB52-4738-B9E4-37A42B28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04975"/>
            <a:ext cx="17716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75F39-968B-44A7-AB09-F5480F73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57375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045C8-DE96-45F1-AC25-991BB98E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76475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Atender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47CAB6-30CC-42E1-8BDC-C089462B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38425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703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Se documentan mensajes y cambios de estado.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65684B-D7FB-45B1-AE71-012C1340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52675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A3570C-DCE4-4598-BC1F-2BC85358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704975"/>
            <a:ext cx="17716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A11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4CCC01-C3D3-4726-9013-AE5565CD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57375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A11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E89944-E083-4DF4-9AE0-9CC2BDEE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76475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Escalar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11962C-9F6E-4555-BA4A-48F27D9A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38425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485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Una regla propone cuándo elevar el caso.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AB2012-6AF7-496F-AFE3-B39F7CC0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52675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1EB09A-FABD-4EF8-BEE5-55F1D88E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04975"/>
            <a:ext cx="17716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3A437E-B21D-4603-AB03-EF2D0335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57375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687DDB-E033-44F1-85D5-DDA48281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76475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Resolver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6561A8-5248-40D4-B784-EEDB8B51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38425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Se registra decisión y se notifica el cierre.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F2E74C-F75A-4B49-A331-2E40B301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514350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CC7A4A-38CC-43B1-BCD5-7C455E13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B7F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B7F79"/>
                </a:solidFill>
                <a:latin typeface="Arial"/>
                <a:ea typeface="Arial"/>
                <a:cs typeface="Arial"/>
              </a:rPr>
              <a:t>AHORA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8E0B29-9B50-429C-990C-28B543E7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480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Control humano en el MVP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1F2B14-477E-4523-A7D4-9B9934FC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81525"/>
            <a:ext cx="4800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Docente, Dirección o mediador toman las decisiones académicas. El sistema conserva evidencia y aplica estados; no sustituye el criterio docente ni la mediación.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BFB55A-EB82-467E-AC7B-21AC3665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24275"/>
            <a:ext cx="514350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EC4C62-103F-41D1-B1FD-BBA63D05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76675"/>
            <a:ext cx="895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DESPUÉS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94AE50-2FAB-4BBA-99DB-405FC79D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48150"/>
            <a:ext cx="480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IA como integración futura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AEC9CD-B1E2-4049-9B9A-CD713EDC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81525"/>
            <a:ext cx="4800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Puede resumir hilos, sugerir borradores o detectar patrones. Siempre requiere revisión humana y no califica, sanciona ni resuelve reclamos de forma autónoma.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FF304C-4637-4437-A0CB-1DE91BE2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B7A"/>
                </a:solidFill>
                <a:latin typeface="Arial"/>
                <a:ea typeface="Arial"/>
                <a:cs typeface="Arial"/>
              </a:rPr>
              <a:t>PC1 · Análisis y Diseño de Sistemas</a:t>
            </a:r>
          </a:p>
        </p:txBody>
      </p:sp>
    </p:spTree>
    <p:extLst>
      <p:ext uri="{BB962C8B-B14F-4D97-AF65-F5344CB8AC3E}">
        <p14:creationId xmlns:p14="http://schemas.microsoft.com/office/powerpoint/2010/main" val="11179546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66500A-AEBE-4690-8515-2B864F25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7F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B7F79"/>
                </a:solidFill>
                <a:latin typeface="Arial"/>
                <a:ea typeface="Arial"/>
                <a:cs typeface="Arial"/>
              </a:rPr>
              <a:t>CRITERIO CENTRAL DE LA PC1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2E99E-A27A-4C71-B0DB-2F985A9F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Del proceso actual a una prueba verificable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A328F-A1D8-4D1C-991F-561F7735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95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6B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95B8F-550D-4E89-A0A5-CE061C86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8E6CE-503F-4114-8CD8-0A659222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9725"/>
            <a:ext cx="1981200" cy="25527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F7427-4C28-4822-929B-8F7D2E3E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1676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B7F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B7F79"/>
                </a:solidFill>
                <a:latin typeface="Arial"/>
                <a:ea typeface="Arial"/>
                <a:cs typeface="Arial"/>
              </a:rPr>
              <a:t>BPMN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58DBD-5652-440B-A065-DDB1452A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P-02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CB408-52CE-453E-89AB-8150E70E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El estudiante recibe la evaluación para transportarla.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6481B-5FE6-4250-9905-52D5725B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676525"/>
            <a:ext cx="2571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A4C28-0F34-43B5-9A82-B464ECC0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09725"/>
            <a:ext cx="1981200" cy="25527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0FC542-9D6D-462D-94B9-61424E3B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71650"/>
            <a:ext cx="1676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B7F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B7F79"/>
                </a:solidFill>
                <a:latin typeface="Arial"/>
                <a:ea typeface="Arial"/>
                <a:cs typeface="Arial"/>
              </a:rPr>
              <a:t>PROBLEMA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C7C63D-3155-4289-B601-537B34E9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288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P-04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433A5E-1115-4107-BAC1-A661D35E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14625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No hay evidencia confiable de recepción en el hogar.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194224-2296-499F-A16E-5B71A1A6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676525"/>
            <a:ext cx="2571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DA4990-3ABA-4B4E-8965-200A79C6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09725"/>
            <a:ext cx="1981200" cy="25527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0B3558"/>
          </a:solidFill>
          <a:ln xmlns:a="http://schemas.openxmlformats.org/drawingml/2006/main" w="9525">
            <a:solidFill>
              <a:srgbClr val="0B35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F0EF20-1F93-4AAE-8B04-E28E7411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71650"/>
            <a:ext cx="1676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A11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REQUISITOS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067854-C87C-4164-AE12-B840A616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288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RF-09 · RF-16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B47CC-C1EE-4539-82E8-A0DB718E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14625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Registrar la entrega y publicar la primera notificación.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BC2714-33BC-441D-B8C6-F11E1C19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676525"/>
            <a:ext cx="2571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FCD430-F19B-4DE9-A060-802213C4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09725"/>
            <a:ext cx="1981200" cy="25527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EB799F-CDE2-4823-8EEE-B6E7B17D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71650"/>
            <a:ext cx="1676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B7F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B7F79"/>
                </a:solidFill>
                <a:latin typeface="Arial"/>
                <a:ea typeface="Arial"/>
                <a:cs typeface="Arial"/>
              </a:rPr>
              <a:t>CASO DE USO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9F7606-C0F0-4AE0-8526-17F7AD73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288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UC-03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1EEB06-ACCA-4D52-9A1B-629734CE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14625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Publicar evaluación asignada.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EF1973-50BA-4F20-8221-649A9BB8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676525"/>
            <a:ext cx="2571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0E7BBD-2469-46A6-BAB7-10A5FC1D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09725"/>
            <a:ext cx="1981200" cy="25527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C73309-5C69-499A-9DCC-759D9C5D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771650"/>
            <a:ext cx="1676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B7F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B7F79"/>
                </a:solidFill>
                <a:latin typeface="Arial"/>
                <a:ea typeface="Arial"/>
                <a:cs typeface="Arial"/>
              </a:rPr>
              <a:t>PRUEBAS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234016-084C-4666-AF51-33FACC24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288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759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TP-UC03-FB / A01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52EA5D-699E-46DE-A786-407CC3AD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14625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Camino básico y rechazo por incongruencia.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C891FC-494F-491B-8BB1-C53F10E8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72BFC4-9E97-4091-B2E9-B16CDF2C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6727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5DA0"/>
                </a:solidFill>
                <a:latin typeface="Arial"/>
                <a:ea typeface="Arial"/>
                <a:cs typeface="Arial"/>
              </a:rPr>
              <a:t>35/35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99C88E-BCC3-467F-98F0-DDE02178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RF referenciados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F77304-88A0-4AF5-9C9F-DF537DB7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434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86C8F0-EFA0-45B6-968F-2559463A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6727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5DA0"/>
                </a:solidFill>
                <a:latin typeface="Arial"/>
                <a:ea typeface="Arial"/>
                <a:cs typeface="Arial"/>
              </a:rPr>
              <a:t>11/11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512B21-4B70-4581-9D68-3E1C3CE2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3149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UC con camino básico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1289DB-4D86-40FD-8CAE-CDF0B23E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434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200A7F-FDED-43D8-87FD-F5F9A0FD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6727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5DA0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350184-8AE9-4EEB-B05B-616D8E06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149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alternos con prueba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7E8CD1-3B51-434C-A5CB-1AA1060F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434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88B1BB-ADEE-4362-9D46-A1AD731B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6727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5DA0"/>
                </a:solidFill>
                <a:latin typeface="Arial"/>
                <a:ea typeface="Arial"/>
                <a:cs typeface="Arial"/>
              </a:rPr>
              <a:t>8/8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9D0A10-D7DB-411D-9813-2FC196BD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149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observaciones incorporadas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792016-B990-430B-B5CD-8A787CFB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B7A"/>
                </a:solidFill>
                <a:latin typeface="Arial"/>
                <a:ea typeface="Arial"/>
                <a:cs typeface="Arial"/>
              </a:rPr>
              <a:t>PC1 · La matriz completa está en 08-matriz-trazabilidad.md</a:t>
            </a:r>
          </a:p>
        </p:txBody>
      </p:sp>
    </p:spTree>
    <p:extLst>
      <p:ext uri="{BB962C8B-B14F-4D97-AF65-F5344CB8AC3E}">
        <p14:creationId xmlns:p14="http://schemas.microsoft.com/office/powerpoint/2010/main" val="7503188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355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4C4B87-E436-4685-AD62-83B630FE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4A11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A11B"/>
                </a:solidFill>
                <a:latin typeface="Arial"/>
                <a:ea typeface="Arial"/>
                <a:cs typeface="Arial"/>
              </a:rPr>
              <a:t>CIERRE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30C4F-C995-4ACB-A843-D5B0FAD5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análisis está listo; lo pendiente es validar decisiones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72B2E-A1A0-40D2-B08D-804DE809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7708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82EBC-7BEB-414D-8AEE-958C73FC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162550" cy="3209925"/>
          </a:xfrm>
          <a:prstGeom xmlns:a="http://schemas.openxmlformats.org/drawingml/2006/main" prst="roundRect">
            <a:avLst>
              <a:gd name="adj" fmla="val 35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24E41-E059-4DED-AEB3-A672A6AA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990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B7F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B7F79"/>
                </a:solidFill>
                <a:latin typeface="Arial"/>
                <a:ea typeface="Arial"/>
                <a:cs typeface="Arial"/>
              </a:rPr>
              <a:t>COMPLETO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03B2D-C2E1-441E-9C52-E777AE62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71725"/>
            <a:ext cx="481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Listo para presentar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DD4FE-2B5E-46B9-9F5D-1E57075A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481965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Problema y visión delimitados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BPMN AS-IS editable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35 RF + 18 requisitos medibles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7 actores + 11 casos detallados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Pruebas de caminos básicos y alternos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Matriz integral de trazabilidad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55532-5B8A-4B2D-9E60-C7D86ADF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5162550" cy="3209925"/>
          </a:xfrm>
          <a:prstGeom xmlns:a="http://schemas.openxmlformats.org/drawingml/2006/main" prst="roundRect">
            <a:avLst>
              <a:gd name="adj" fmla="val 35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76509-0858-4C85-919D-9B0CADA9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02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A11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PENDIENTE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294D1D-92C7-44F2-A7DE-991E568F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71725"/>
            <a:ext cx="481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Validar con profesor y Dirección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6E634-F16F-4D49-ADBE-62E569D4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81965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Proceso y protocolo real de reclamos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Plazos de lectura, recordatorio y escalamiento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Responsable institucional de mediación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Carga administrativa y volúmenes actuales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Nombre formal del centro y permisos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Formato final de entrega solicitado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8D11D-6E7F-4499-825E-4D4F8EAE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648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B7F7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D77DF4-DD6B-401C-9A9D-FBCCC1F2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2152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8125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Preguntas para mañana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87D042-46E4-477A-B09A-334750F0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448300"/>
            <a:ext cx="8058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¿Es correcto mantener el MVP en primaria? · ¿Quién media discrepancias hoy? · ¿Qué métricas y plazos debemos confirmar?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58CE3E-A40E-4476-A525-78D4CAB9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7CAD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7CAD8"/>
                </a:solidFill>
                <a:latin typeface="Arial"/>
                <a:ea typeface="Arial"/>
                <a:cs typeface="Arial"/>
              </a:rPr>
              <a:t>Portal Académico · PC1</a:t>
            </a:r>
          </a:p>
        </p:txBody>
      </p:sp>
    </p:spTree>
    <p:extLst>
      <p:ext uri="{BB962C8B-B14F-4D97-AF65-F5344CB8AC3E}">
        <p14:creationId xmlns:p14="http://schemas.microsoft.com/office/powerpoint/2010/main" val="2791398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2026-09-16T02:16:57.8290000Z</dcterms:created>
  <dcterms:modified xsi:type="dcterms:W3CDTF">2026-09-16T02:16:57.8290000Z</dcterms:modified>
</coreProperties>
</file>